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86" r:id="rId5"/>
    <p:sldId id="297" r:id="rId6"/>
    <p:sldId id="261" r:id="rId7"/>
    <p:sldId id="285" r:id="rId8"/>
    <p:sldId id="263" r:id="rId9"/>
    <p:sldId id="309" r:id="rId10"/>
    <p:sldId id="265" r:id="rId11"/>
    <p:sldId id="262" r:id="rId12"/>
    <p:sldId id="280" r:id="rId13"/>
    <p:sldId id="303" r:id="rId14"/>
    <p:sldId id="298" r:id="rId15"/>
    <p:sldId id="306" r:id="rId16"/>
    <p:sldId id="308" r:id="rId17"/>
    <p:sldId id="307" r:id="rId18"/>
    <p:sldId id="310" r:id="rId19"/>
    <p:sldId id="315" r:id="rId20"/>
    <p:sldId id="316" r:id="rId21"/>
    <p:sldId id="311" r:id="rId22"/>
    <p:sldId id="314" r:id="rId23"/>
    <p:sldId id="312" r:id="rId24"/>
    <p:sldId id="305" r:id="rId25"/>
    <p:sldId id="313" r:id="rId26"/>
    <p:sldId id="304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6006"/>
    <a:srgbClr val="0072C7"/>
    <a:srgbClr val="0FB9B9"/>
    <a:srgbClr val="73547C"/>
    <a:srgbClr val="663300"/>
    <a:srgbClr val="B67B12"/>
    <a:srgbClr val="100E10"/>
    <a:srgbClr val="6C5878"/>
    <a:srgbClr val="E7E9EB"/>
    <a:srgbClr val="2C5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25" autoAdjust="0"/>
    <p:restoredTop sz="95726" autoAdjust="0"/>
  </p:normalViewPr>
  <p:slideViewPr>
    <p:cSldViewPr snapToGrid="0" showGuides="1">
      <p:cViewPr varScale="1">
        <p:scale>
          <a:sx n="96" d="100"/>
          <a:sy n="96" d="100"/>
        </p:scale>
        <p:origin x="125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12/10/2025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04900" y="-89574"/>
            <a:ext cx="14401800" cy="1051560"/>
          </a:xfrm>
          <a:noFill/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Face </a:t>
            </a:r>
            <a:r>
              <a:rPr lang="en-IN" sz="4800" dirty="0">
                <a:solidFill>
                  <a:srgbClr val="00B050"/>
                </a:solidFill>
              </a:rPr>
              <a:t>Authentication based Attendance System 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7C594-3B1D-8981-856B-7EEF33527DF1}"/>
              </a:ext>
            </a:extLst>
          </p:cNvPr>
          <p:cNvSpPr txBox="1"/>
          <p:nvPr/>
        </p:nvSpPr>
        <p:spPr>
          <a:xfrm>
            <a:off x="280086" y="1818472"/>
            <a:ext cx="1191191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663300"/>
                </a:solidFill>
              </a:rPr>
              <a:t>                                 </a:t>
            </a:r>
            <a:r>
              <a:rPr lang="en-IN" sz="4800" b="1" dirty="0">
                <a:solidFill>
                  <a:srgbClr val="C00000"/>
                </a:solidFill>
              </a:rPr>
              <a:t>Name :- Piyush Kumar</a:t>
            </a:r>
          </a:p>
          <a:p>
            <a:r>
              <a:rPr lang="en-IN" sz="3600" b="1" dirty="0">
                <a:solidFill>
                  <a:srgbClr val="7030A0"/>
                </a:solidFill>
              </a:rPr>
              <a:t>                                       </a:t>
            </a:r>
            <a:r>
              <a:rPr lang="en-IN" sz="3200" b="1" dirty="0">
                <a:solidFill>
                  <a:srgbClr val="7030A0"/>
                </a:solidFill>
              </a:rPr>
              <a:t>Entry Number :- 23bcs061</a:t>
            </a:r>
          </a:p>
          <a:p>
            <a:r>
              <a:rPr lang="en-IN" sz="3600" b="1" dirty="0">
                <a:solidFill>
                  <a:srgbClr val="7030A0"/>
                </a:solidFill>
              </a:rPr>
              <a:t>                                                   </a:t>
            </a:r>
            <a:r>
              <a:rPr lang="en-IN" sz="3200" b="1" dirty="0">
                <a:solidFill>
                  <a:srgbClr val="7030A0"/>
                </a:solidFill>
              </a:rPr>
              <a:t>Semester:-5</a:t>
            </a:r>
            <a:r>
              <a:rPr lang="en-IN" sz="3200" b="1" baseline="30000" dirty="0">
                <a:solidFill>
                  <a:srgbClr val="7030A0"/>
                </a:solidFill>
              </a:rPr>
              <a:t>th</a:t>
            </a:r>
          </a:p>
          <a:p>
            <a:endParaRPr lang="en-IN" sz="3200" b="1" dirty="0">
              <a:solidFill>
                <a:srgbClr val="7030A0"/>
              </a:solidFill>
            </a:endParaRPr>
          </a:p>
          <a:p>
            <a:r>
              <a:rPr lang="en-IN" sz="3600" b="1" dirty="0">
                <a:solidFill>
                  <a:srgbClr val="663300"/>
                </a:solidFill>
              </a:rPr>
              <a:t>            </a:t>
            </a:r>
            <a:r>
              <a:rPr lang="en-IN" sz="3600" b="1" dirty="0">
                <a:solidFill>
                  <a:srgbClr val="73547C"/>
                </a:solidFill>
              </a:rPr>
              <a:t>Department:-Computer science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C4E2B-5CAA-35FB-5332-14E90A875276}"/>
              </a:ext>
            </a:extLst>
          </p:cNvPr>
          <p:cNvSpPr txBox="1"/>
          <p:nvPr/>
        </p:nvSpPr>
        <p:spPr>
          <a:xfrm>
            <a:off x="2281881" y="5660391"/>
            <a:ext cx="737496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663300"/>
                </a:solidFill>
              </a:rPr>
              <a:t>        </a:t>
            </a:r>
            <a:r>
              <a:rPr lang="en-IN" sz="3400" b="1" dirty="0">
                <a:solidFill>
                  <a:srgbClr val="663300"/>
                </a:solidFill>
              </a:rPr>
              <a:t>Guide Name:-Dr. Rohit Tanwar sir</a:t>
            </a:r>
          </a:p>
        </p:txBody>
      </p: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A7FF5-11CA-8F71-5951-B1099396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D4586-AE6B-E0E6-7056-2AD6FD195301}"/>
              </a:ext>
            </a:extLst>
          </p:cNvPr>
          <p:cNvSpPr txBox="1"/>
          <p:nvPr/>
        </p:nvSpPr>
        <p:spPr>
          <a:xfrm>
            <a:off x="4730496" y="2844225"/>
            <a:ext cx="2731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Objectives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5641F-42C4-F4E8-E291-17175D2E8F4A}"/>
              </a:ext>
            </a:extLst>
          </p:cNvPr>
          <p:cNvSpPr txBox="1"/>
          <p:nvPr/>
        </p:nvSpPr>
        <p:spPr>
          <a:xfrm>
            <a:off x="472853" y="1257277"/>
            <a:ext cx="11246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Devlop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facial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authentication based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attendance system that records attendance in a CSV file and sends email for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attendance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confirmations to ensure accurate, efficient , and paperless attendance management.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DA327-5AE0-D5EB-9655-196EEFE6CD14}"/>
              </a:ext>
            </a:extLst>
          </p:cNvPr>
          <p:cNvSpPr txBox="1"/>
          <p:nvPr/>
        </p:nvSpPr>
        <p:spPr>
          <a:xfrm>
            <a:off x="3958747" y="528459"/>
            <a:ext cx="4274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Problem Statement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A246D-8331-E220-6EFB-781CA8DB4C7B}"/>
              </a:ext>
            </a:extLst>
          </p:cNvPr>
          <p:cNvSpPr txBox="1"/>
          <p:nvPr/>
        </p:nvSpPr>
        <p:spPr>
          <a:xfrm>
            <a:off x="354662" y="3600722"/>
            <a:ext cx="1190492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main objective of this project is to</a:t>
            </a:r>
            <a:r>
              <a:rPr lang="en-IN" sz="2400" dirty="0"/>
              <a:t> overcome </a:t>
            </a:r>
            <a:r>
              <a:rPr lang="en-US" sz="2400" dirty="0"/>
              <a:t>Traditional attendance systems that rely on manual entry or physical identification. By developing a facial recognition-based attendance management system that can detect and identify faces in real-time, and mark the attendance in a CSV file also send email for attendance confirmation to ensure accuracy, security, time efficiency, and prevention of proxy attendance</a:t>
            </a:r>
            <a:r>
              <a:rPr lang="en-US" sz="2800" dirty="0"/>
              <a:t>.</a:t>
            </a:r>
            <a:endParaRPr lang="en-IN" sz="2800" dirty="0"/>
          </a:p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50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BD937-7DAA-A02F-EE55-042C1D55F18D}"/>
              </a:ext>
            </a:extLst>
          </p:cNvPr>
          <p:cNvSpPr txBox="1"/>
          <p:nvPr/>
        </p:nvSpPr>
        <p:spPr>
          <a:xfrm>
            <a:off x="3715227" y="737454"/>
            <a:ext cx="5029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Proposed Methodology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ADBDB0-F213-68E9-0BEA-E3F914053AE4}"/>
              </a:ext>
            </a:extLst>
          </p:cNvPr>
          <p:cNvSpPr txBox="1"/>
          <p:nvPr/>
        </p:nvSpPr>
        <p:spPr>
          <a:xfrm>
            <a:off x="143123" y="1690520"/>
            <a:ext cx="3729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B050"/>
                </a:solidFill>
              </a:rPr>
              <a:t>Image Acquisition: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AF04D-4D1C-115E-C221-E950E110121C}"/>
              </a:ext>
            </a:extLst>
          </p:cNvPr>
          <p:cNvSpPr txBox="1"/>
          <p:nvPr/>
        </p:nvSpPr>
        <p:spPr>
          <a:xfrm>
            <a:off x="544244" y="2213740"/>
            <a:ext cx="7543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Capture student images through a webcam in real-time.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AF898-860E-BB76-5973-33244BA11F50}"/>
              </a:ext>
            </a:extLst>
          </p:cNvPr>
          <p:cNvSpPr txBox="1"/>
          <p:nvPr/>
        </p:nvSpPr>
        <p:spPr>
          <a:xfrm>
            <a:off x="171273" y="4158503"/>
            <a:ext cx="3729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B050"/>
                </a:solidFill>
              </a:rPr>
              <a:t>Face Detection: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B4BA6-7E28-93C1-9180-E05C6433AA5E}"/>
              </a:ext>
            </a:extLst>
          </p:cNvPr>
          <p:cNvSpPr txBox="1"/>
          <p:nvPr/>
        </p:nvSpPr>
        <p:spPr>
          <a:xfrm>
            <a:off x="523459" y="4624750"/>
            <a:ext cx="10168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 algorithms like Haar Cascade detectors to locate faces in the frame.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1F14A-D11A-B33B-9E7B-04258E871D15}"/>
              </a:ext>
            </a:extLst>
          </p:cNvPr>
          <p:cNvSpPr txBox="1"/>
          <p:nvPr/>
        </p:nvSpPr>
        <p:spPr>
          <a:xfrm>
            <a:off x="163267" y="2757550"/>
            <a:ext cx="4270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B050"/>
                </a:solidFill>
              </a:rPr>
              <a:t>Grayscale Conversion: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A73BF1-1960-25E2-48DC-F9A4FE1BB9A1}"/>
              </a:ext>
            </a:extLst>
          </p:cNvPr>
          <p:cNvSpPr txBox="1"/>
          <p:nvPr/>
        </p:nvSpPr>
        <p:spPr>
          <a:xfrm>
            <a:off x="523459" y="3325359"/>
            <a:ext cx="11401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Converts RGB image to grayscale to reduce computational complexity while retaining</a:t>
            </a:r>
          </a:p>
          <a:p>
            <a:r>
              <a:rPr lang="en-IN" sz="2400" dirty="0"/>
              <a:t> important features.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52418-E089-0726-46A3-7AB2874FCC46}"/>
              </a:ext>
            </a:extLst>
          </p:cNvPr>
          <p:cNvSpPr txBox="1"/>
          <p:nvPr/>
        </p:nvSpPr>
        <p:spPr>
          <a:xfrm>
            <a:off x="171273" y="5167480"/>
            <a:ext cx="4270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B050"/>
                </a:solidFill>
              </a:rPr>
              <a:t>Feature Extraction</a:t>
            </a:r>
            <a:r>
              <a:rPr lang="en-US" sz="2800" b="1" dirty="0">
                <a:solidFill>
                  <a:srgbClr val="00B050"/>
                </a:solidFill>
              </a:rPr>
              <a:t>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1D8EB-8592-9EE7-362E-CD13BB2A3EC9}"/>
              </a:ext>
            </a:extLst>
          </p:cNvPr>
          <p:cNvSpPr txBox="1"/>
          <p:nvPr/>
        </p:nvSpPr>
        <p:spPr>
          <a:xfrm>
            <a:off x="544244" y="5599392"/>
            <a:ext cx="8672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Extract face  data from resized images and store it in a pickle file.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C89F9C-8909-0D42-A400-0C9898796A72}"/>
              </a:ext>
            </a:extLst>
          </p:cNvPr>
          <p:cNvSpPr txBox="1"/>
          <p:nvPr/>
        </p:nvSpPr>
        <p:spPr>
          <a:xfrm>
            <a:off x="174927" y="118113"/>
            <a:ext cx="5685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B050"/>
                </a:solidFill>
              </a:rPr>
              <a:t>Model Training and Recognition: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26D38-A2C8-6353-F294-24B370094117}"/>
              </a:ext>
            </a:extLst>
          </p:cNvPr>
          <p:cNvSpPr txBox="1"/>
          <p:nvPr/>
        </p:nvSpPr>
        <p:spPr>
          <a:xfrm>
            <a:off x="622871" y="641333"/>
            <a:ext cx="115691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this purpose I use KNN algorithm to train the model. And use it to predict incoming </a:t>
            </a:r>
          </a:p>
          <a:p>
            <a:r>
              <a:rPr lang="en-IN" sz="2400" dirty="0"/>
              <a:t>frame with the help of this trained model.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9CF8E-6BD8-177A-DDB6-4F1F2CFF6417}"/>
              </a:ext>
            </a:extLst>
          </p:cNvPr>
          <p:cNvSpPr txBox="1"/>
          <p:nvPr/>
        </p:nvSpPr>
        <p:spPr>
          <a:xfrm>
            <a:off x="174927" y="1387707"/>
            <a:ext cx="6861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B050"/>
                </a:solidFill>
              </a:rPr>
              <a:t>Attendance marking and Confirmation: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03CCC-2E00-FAFF-0653-33BBEB0E5E13}"/>
              </a:ext>
            </a:extLst>
          </p:cNvPr>
          <p:cNvSpPr txBox="1"/>
          <p:nvPr/>
        </p:nvSpPr>
        <p:spPr>
          <a:xfrm>
            <a:off x="469125" y="1803205"/>
            <a:ext cx="11675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If authentication succeeds, it mark the attendance in the system as CSV file.</a:t>
            </a:r>
          </a:p>
          <a:p>
            <a:r>
              <a:rPr lang="en-IN" sz="2400" dirty="0"/>
              <a:t>And send email for attendance confirmation.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7F333-C944-0985-B80D-C76E787C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9" y="2552368"/>
            <a:ext cx="12144291" cy="430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0951B-5B42-934A-6AE5-2E9C39CE98B9}"/>
              </a:ext>
            </a:extLst>
          </p:cNvPr>
          <p:cNvSpPr txBox="1"/>
          <p:nvPr/>
        </p:nvSpPr>
        <p:spPr>
          <a:xfrm>
            <a:off x="744772" y="2356980"/>
            <a:ext cx="10999305" cy="494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OpenCV:</a:t>
            </a: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 open-source computer vision library often used for image processing and face detection tasks.</a:t>
            </a:r>
            <a:endParaRPr lang="en-IN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pickle: </a:t>
            </a:r>
            <a:r>
              <a:rPr lang="en-IN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pickle is a standard Python module for serializing and deserializing Python objects.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OS: 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 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OS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module provides a way to interact with the operating system.</a:t>
            </a:r>
            <a:endParaRPr lang="en-IN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numpy: </a:t>
            </a:r>
            <a:r>
              <a:rPr lang="en-IN" sz="24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numpy</a:t>
            </a:r>
            <a:r>
              <a:rPr lang="en-IN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is a fundamental package for numerical computing in Python.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</a:t>
            </a:r>
            <a:r>
              <a:rPr lang="en-IN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 Scikit-learn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400" dirty="0"/>
              <a:t>Scikit-learn is also an open-source Python library </a:t>
            </a:r>
            <a:r>
              <a:rPr lang="en-IN" sz="2400" dirty="0"/>
              <a:t>usually used </a:t>
            </a:r>
            <a:r>
              <a:rPr lang="en-US" sz="2400" dirty="0"/>
              <a:t> for machine learning  task for  providing </a:t>
            </a:r>
            <a:r>
              <a:rPr lang="en-IN" sz="2400" dirty="0"/>
              <a:t>algorithms to train and predict the model like KNN.</a:t>
            </a:r>
            <a:endParaRPr lang="en-IN" sz="24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endParaRPr lang="en-IN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C796DE-0A85-6E26-8237-67E96CE558A6}"/>
              </a:ext>
            </a:extLst>
          </p:cNvPr>
          <p:cNvSpPr txBox="1"/>
          <p:nvPr/>
        </p:nvSpPr>
        <p:spPr>
          <a:xfrm>
            <a:off x="159939" y="1859921"/>
            <a:ext cx="6194066" cy="49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5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B. Libraries and Modules:</a:t>
            </a:r>
            <a:endParaRPr lang="en-IN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991410-6B9B-CE18-23DC-D288C4737EB8}"/>
              </a:ext>
            </a:extLst>
          </p:cNvPr>
          <p:cNvSpPr txBox="1"/>
          <p:nvPr/>
        </p:nvSpPr>
        <p:spPr>
          <a:xfrm>
            <a:off x="744772" y="1305923"/>
            <a:ext cx="116094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IN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IN" sz="2400" b="1" dirty="0">
                <a:solidFill>
                  <a:srgbClr val="0FB9B9"/>
                </a:solidFill>
              </a:rPr>
              <a:t>Python</a:t>
            </a:r>
            <a:r>
              <a:rPr lang="en-IN" sz="2400" dirty="0">
                <a:solidFill>
                  <a:srgbClr val="0FB9B9"/>
                </a:solidFill>
              </a:rPr>
              <a:t>: </a:t>
            </a:r>
            <a:r>
              <a:rPr lang="en-IN" sz="2400" dirty="0"/>
              <a:t>Most commonly used language for computer vision and machine learning </a:t>
            </a:r>
          </a:p>
          <a:p>
            <a:r>
              <a:rPr lang="en-IN" sz="2400" dirty="0"/>
              <a:t>     tasks.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BD7025-B290-EDF5-422C-F243F1222B9D}"/>
              </a:ext>
            </a:extLst>
          </p:cNvPr>
          <p:cNvSpPr txBox="1"/>
          <p:nvPr/>
        </p:nvSpPr>
        <p:spPr>
          <a:xfrm>
            <a:off x="159939" y="808864"/>
            <a:ext cx="6194066" cy="49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500" b="1" dirty="0">
                <a:solidFill>
                  <a:srgbClr val="00B05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A. Programming Language:</a:t>
            </a:r>
            <a:endParaRPr lang="en-IN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21A1B-8ED3-BDEC-F463-0E895E8CE003}"/>
              </a:ext>
            </a:extLst>
          </p:cNvPr>
          <p:cNvSpPr txBox="1"/>
          <p:nvPr/>
        </p:nvSpPr>
        <p:spPr>
          <a:xfrm>
            <a:off x="3377901" y="224089"/>
            <a:ext cx="595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Technologies and Tools used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DFFD-6284-7AE7-5A94-34D0F68A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552AB-5B1F-1137-0193-F47D95C53EED}"/>
              </a:ext>
            </a:extLst>
          </p:cNvPr>
          <p:cNvSpPr txBox="1"/>
          <p:nvPr/>
        </p:nvSpPr>
        <p:spPr>
          <a:xfrm>
            <a:off x="620201" y="487818"/>
            <a:ext cx="11203389" cy="6475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CSV:</a:t>
            </a:r>
            <a:r>
              <a:rPr lang="en-US" sz="24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Python module to read from and write to CSV files, useful for logging or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storing tabular data such as attendance records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  <a:endParaRPr lang="en-IN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datetime: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datetime from datetime Provides classes for handling dates and times for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timestamp events like log entries.</a:t>
            </a:r>
            <a:endParaRPr lang="en-IN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8</a:t>
            </a: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Dispatch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Dispatch from win32com.client can be used to generate voice (text‑to‑speech) on Windows.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9</a:t>
            </a:r>
            <a:r>
              <a:rPr lang="en-IN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smtplib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Python module for sending emails via the (SMTP), often used with mail servers like Gmail.</a:t>
            </a:r>
            <a:endParaRPr lang="en-IN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11</a:t>
            </a:r>
            <a:r>
              <a:rPr lang="en-IN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 papermill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Papermill is a Python library used to execute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Jupyter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notebook</a:t>
            </a:r>
            <a:r>
              <a:rPr lang="en-US" dirty="0"/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multiple times with different input parameters and save the executed results.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12</a:t>
            </a:r>
            <a:r>
              <a:rPr lang="en-IN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 subprocess</a:t>
            </a:r>
            <a:r>
              <a:rPr lang="en-IN" sz="24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subprocess is a standard Python module that start external programs or system commands from  code like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excel here.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E50AA-1B57-FC8A-02E3-1EA67B63F0DB}"/>
              </a:ext>
            </a:extLst>
          </p:cNvPr>
          <p:cNvSpPr txBox="1"/>
          <p:nvPr/>
        </p:nvSpPr>
        <p:spPr>
          <a:xfrm>
            <a:off x="3907383" y="312485"/>
            <a:ext cx="4578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Work Done /Progress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8D037C-A312-62AB-FD9F-00EE3242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0" y="929616"/>
            <a:ext cx="11240474" cy="18060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7E42BD-B44B-00DB-3DFC-50C271E54BF7}"/>
              </a:ext>
            </a:extLst>
          </p:cNvPr>
          <p:cNvSpPr txBox="1"/>
          <p:nvPr/>
        </p:nvSpPr>
        <p:spPr>
          <a:xfrm>
            <a:off x="2173176" y="2768069"/>
            <a:ext cx="776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I have imported all necessary libraries and modules.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8541B5-BDA8-B8C5-BA52-4F2E8C67F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98" y="3385264"/>
            <a:ext cx="11301439" cy="256054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CB491E8-6FAF-1169-2D12-728EA3D853C3}"/>
              </a:ext>
            </a:extLst>
          </p:cNvPr>
          <p:cNvSpPr txBox="1"/>
          <p:nvPr/>
        </p:nvSpPr>
        <p:spPr>
          <a:xfrm>
            <a:off x="2284444" y="6023571"/>
            <a:ext cx="8058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Here I am collecting all necessary data from the users.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C230EA-3F78-17B4-D616-4EA69459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73" y="693354"/>
            <a:ext cx="11164267" cy="55741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C4B399-2AEE-3462-4B00-C589250AF4EC}"/>
              </a:ext>
            </a:extLst>
          </p:cNvPr>
          <p:cNvSpPr txBox="1"/>
          <p:nvPr/>
        </p:nvSpPr>
        <p:spPr>
          <a:xfrm>
            <a:off x="2196807" y="6215636"/>
            <a:ext cx="7676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Code snippets for Collecting Face data of the users.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15383-FDDD-FD60-71A6-BBBFFED785EA}"/>
              </a:ext>
            </a:extLst>
          </p:cNvPr>
          <p:cNvSpPr txBox="1"/>
          <p:nvPr/>
        </p:nvSpPr>
        <p:spPr>
          <a:xfrm>
            <a:off x="2196807" y="180699"/>
            <a:ext cx="7562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 User Facial detection &amp; data collection 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21905C-1BD6-BF3F-5B8B-B9AD5301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4635FB-423F-E278-2141-40CCB5BE89B8}"/>
              </a:ext>
            </a:extLst>
          </p:cNvPr>
          <p:cNvSpPr txBox="1"/>
          <p:nvPr/>
        </p:nvSpPr>
        <p:spPr>
          <a:xfrm>
            <a:off x="182880" y="731519"/>
            <a:ext cx="1185645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Here, I have used the Haar Cascade classifier for face detection with the help of the </a:t>
            </a:r>
          </a:p>
          <a:p>
            <a:r>
              <a:rPr lang="en-US" sz="2400" dirty="0"/>
              <a:t>     pre-trained classifier file </a:t>
            </a:r>
            <a:r>
              <a:rPr lang="en-IN" sz="2400" dirty="0"/>
              <a:t>“</a:t>
            </a:r>
            <a:r>
              <a:rPr lang="en-IN" sz="2400" b="1" dirty="0">
                <a:solidFill>
                  <a:srgbClr val="FF0000"/>
                </a:solidFill>
              </a:rPr>
              <a:t>haarcascade_frontalface_default.xml</a:t>
            </a:r>
            <a:r>
              <a:rPr lang="en-IN" sz="2400" dirty="0"/>
              <a:t>’’ .</a:t>
            </a:r>
            <a:r>
              <a:rPr lang="en-US" dirty="0"/>
              <a:t> </a:t>
            </a:r>
            <a:r>
              <a:rPr lang="en-US" sz="2400" dirty="0"/>
              <a:t>The classifier is</a:t>
            </a:r>
          </a:p>
          <a:p>
            <a:r>
              <a:rPr lang="en-US" sz="2400" dirty="0"/>
              <a:t>    trained with many positive images (with objects) and negative images (without objects).</a:t>
            </a:r>
          </a:p>
          <a:p>
            <a:endParaRPr lang="en-IN" sz="2400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487D6-6A0B-033A-9256-DE7E4597B5BB}"/>
              </a:ext>
            </a:extLst>
          </p:cNvPr>
          <p:cNvSpPr txBox="1"/>
          <p:nvPr/>
        </p:nvSpPr>
        <p:spPr>
          <a:xfrm>
            <a:off x="182880" y="2105203"/>
            <a:ext cx="11767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With the help of the </a:t>
            </a:r>
            <a:r>
              <a:rPr lang="en-US" sz="2400" dirty="0" err="1"/>
              <a:t>detectMultiScale</a:t>
            </a:r>
            <a:r>
              <a:rPr lang="en-US" sz="2400" dirty="0"/>
              <a:t>() function, we find four parameters: ‘x’ and ‘y’, which are the coordinates of the upper-left corner and ‘w’ and ‘h’, are the width and height of the detected face in the frame.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32913-2365-EBDC-F98F-EB88D4C37DBC}"/>
              </a:ext>
            </a:extLst>
          </p:cNvPr>
          <p:cNvSpPr txBox="1"/>
          <p:nvPr/>
        </p:nvSpPr>
        <p:spPr>
          <a:xfrm>
            <a:off x="182878" y="4028336"/>
            <a:ext cx="11856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 Draws a  rectangle around  detected face, using the coordinates (x, y) (upper-left corner) and (</a:t>
            </a:r>
            <a:r>
              <a:rPr lang="en-US" sz="2400" dirty="0" err="1"/>
              <a:t>x+w,y+h</a:t>
            </a:r>
            <a:r>
              <a:rPr lang="en-US" sz="2400" dirty="0"/>
              <a:t>) (lower-right corner).</a:t>
            </a:r>
            <a:endParaRPr lang="en-IN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321BF47-FDDB-DD69-FF2C-8A67DE18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02" y="3392590"/>
            <a:ext cx="11141405" cy="5486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30306A1-C2EF-0569-067E-9ECEDE77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22" y="4946391"/>
            <a:ext cx="11133785" cy="54106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2793B91-1BDC-6A96-9D15-A0900FC205D5}"/>
              </a:ext>
            </a:extLst>
          </p:cNvPr>
          <p:cNvSpPr txBox="1"/>
          <p:nvPr/>
        </p:nvSpPr>
        <p:spPr>
          <a:xfrm>
            <a:off x="247135" y="5655897"/>
            <a:ext cx="10596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Draws the number of detected faces as text on the frame at position (50, 50).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5A968-54A2-75A6-4F9B-7EAC46A0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A97E4F-3585-3114-2F66-8664E9EA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877B35-39D3-E3A2-41CB-03849D8C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39" y="297960"/>
            <a:ext cx="7687722" cy="55295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8C8836-D236-1D3D-4027-517DFF39FD5C}"/>
              </a:ext>
            </a:extLst>
          </p:cNvPr>
          <p:cNvSpPr txBox="1"/>
          <p:nvPr/>
        </p:nvSpPr>
        <p:spPr>
          <a:xfrm>
            <a:off x="3233934" y="5897088"/>
            <a:ext cx="5724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Here  I am detecting face of the users.</a:t>
            </a:r>
          </a:p>
        </p:txBody>
      </p:sp>
    </p:spTree>
    <p:extLst>
      <p:ext uri="{BB962C8B-B14F-4D97-AF65-F5344CB8AC3E}">
        <p14:creationId xmlns:p14="http://schemas.microsoft.com/office/powerpoint/2010/main" val="387042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77072-7625-1F6D-7795-15F3B2B2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56FAF-EBAB-8FB7-A6FF-4ED2D51E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6618C1-A0CD-43E0-F2FD-564AA7A5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4" y="570506"/>
            <a:ext cx="10895190" cy="62210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599E9-9358-6503-9778-D31EDBD9FEC4}"/>
              </a:ext>
            </a:extLst>
          </p:cNvPr>
          <p:cNvSpPr txBox="1"/>
          <p:nvPr/>
        </p:nvSpPr>
        <p:spPr>
          <a:xfrm>
            <a:off x="3919907" y="66399"/>
            <a:ext cx="4605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 User database creation</a:t>
            </a:r>
          </a:p>
        </p:txBody>
      </p:sp>
    </p:spTree>
    <p:extLst>
      <p:ext uri="{BB962C8B-B14F-4D97-AF65-F5344CB8AC3E}">
        <p14:creationId xmlns:p14="http://schemas.microsoft.com/office/powerpoint/2010/main" val="121783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593A1-7857-7F0A-FEA0-3200B41A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C24E9C-47DF-73BF-AF6D-C5ABCA0B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A86209-D950-F2A4-AD03-F2BDEE0E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63" y="294999"/>
            <a:ext cx="11240474" cy="3010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6141E3-A215-89DD-E13B-A8C8254F9857}"/>
              </a:ext>
            </a:extLst>
          </p:cNvPr>
          <p:cNvSpPr txBox="1"/>
          <p:nvPr/>
        </p:nvSpPr>
        <p:spPr>
          <a:xfrm>
            <a:off x="1804947" y="3322008"/>
            <a:ext cx="9116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Here I am storing all collated data from users in  pickle file..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AED3F5-5165-D3D0-BC2B-0C2035116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42" y="3847857"/>
            <a:ext cx="11248095" cy="271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8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1E07-4585-C018-20FC-3C0E8EC0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46C486F-3A3F-0208-7D44-EE1E6F32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FDA36-CE4E-4CA5-7FD3-343F3B99A898}"/>
              </a:ext>
            </a:extLst>
          </p:cNvPr>
          <p:cNvSpPr txBox="1"/>
          <p:nvPr/>
        </p:nvSpPr>
        <p:spPr>
          <a:xfrm>
            <a:off x="3266937" y="6128618"/>
            <a:ext cx="492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Data store inside the pickle file.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DCD7D-6F38-D6FB-25E1-1CFCD7A1F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0" y="335567"/>
            <a:ext cx="11181033" cy="22191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B73AD4-0817-7D2B-1861-6EA89225E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58" y="2735695"/>
            <a:ext cx="11248095" cy="1562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D20EC-43D7-4DD2-3934-D5767CD78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90" y="4433630"/>
            <a:ext cx="11240474" cy="1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5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C1A61-99C8-0C7F-AA86-20B8DBCC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22F6C8-C79A-70D6-B950-DE1A4FC8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6E40-F139-46BE-9A0C-C5876D0E82E7}"/>
              </a:ext>
            </a:extLst>
          </p:cNvPr>
          <p:cNvSpPr txBox="1"/>
          <p:nvPr/>
        </p:nvSpPr>
        <p:spPr>
          <a:xfrm>
            <a:off x="506663" y="5912665"/>
            <a:ext cx="11628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Here, I loaded all data and train the KNN model with FACES as training data and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                                            LABELS(entry-no) as </a:t>
            </a:r>
            <a:r>
              <a:rPr lang="en-IN" sz="2400" b="1" dirty="0">
                <a:solidFill>
                  <a:srgbClr val="C00000"/>
                </a:solidFill>
              </a:rPr>
              <a:t>labelled class.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17BDA-96C9-F20B-50AB-DBB62F4E0AFD}"/>
              </a:ext>
            </a:extLst>
          </p:cNvPr>
          <p:cNvSpPr txBox="1"/>
          <p:nvPr/>
        </p:nvSpPr>
        <p:spPr>
          <a:xfrm>
            <a:off x="2689449" y="2746409"/>
            <a:ext cx="7103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Imported all necessary libraries and modules 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C3318-3659-BC78-CF28-B5FF9172E5DE}"/>
              </a:ext>
            </a:extLst>
          </p:cNvPr>
          <p:cNvSpPr txBox="1"/>
          <p:nvPr/>
        </p:nvSpPr>
        <p:spPr>
          <a:xfrm>
            <a:off x="4834307" y="-100943"/>
            <a:ext cx="297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 Training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FAC70D-EF50-7809-656D-DF91D25AA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57" y="396128"/>
            <a:ext cx="11263336" cy="2453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EED0BA-3ACF-D0DC-793D-A0FBDACDF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81" y="3122371"/>
            <a:ext cx="11217612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6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DE377-2E56-E5E9-76A8-46383D94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E97DC-2840-AD97-C884-3269F424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87" y="893831"/>
            <a:ext cx="11149026" cy="4587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1FD268-F73B-50B0-E3C6-2443993F1F3E}"/>
              </a:ext>
            </a:extLst>
          </p:cNvPr>
          <p:cNvSpPr txBox="1"/>
          <p:nvPr/>
        </p:nvSpPr>
        <p:spPr>
          <a:xfrm>
            <a:off x="191945" y="5733336"/>
            <a:ext cx="11680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Here, I am recognizing the user’s face and retrieving all of that user’s stored data.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D4819-9A99-ECD6-2F24-9F84C64DD4B6}"/>
              </a:ext>
            </a:extLst>
          </p:cNvPr>
          <p:cNvSpPr txBox="1"/>
          <p:nvPr/>
        </p:nvSpPr>
        <p:spPr>
          <a:xfrm>
            <a:off x="4414178" y="229956"/>
            <a:ext cx="3479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Face Recognition </a:t>
            </a:r>
          </a:p>
        </p:txBody>
      </p:sp>
    </p:spTree>
    <p:extLst>
      <p:ext uri="{BB962C8B-B14F-4D97-AF65-F5344CB8AC3E}">
        <p14:creationId xmlns:p14="http://schemas.microsoft.com/office/powerpoint/2010/main" val="549923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D8B14-66BC-03F9-2E00-C5A74408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13B0C-6AAF-0970-5E2F-E9EFC95A0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318" y="0"/>
            <a:ext cx="12303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08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9E802-7CCB-776D-5300-CBC789D91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651A48-4C92-8DE1-F5A5-834EEB1AC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87" y="969263"/>
            <a:ext cx="11149026" cy="4557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99C060-76B6-3A83-CB80-8A4BA1A637CB}"/>
              </a:ext>
            </a:extLst>
          </p:cNvPr>
          <p:cNvSpPr txBox="1"/>
          <p:nvPr/>
        </p:nvSpPr>
        <p:spPr>
          <a:xfrm>
            <a:off x="521487" y="5696176"/>
            <a:ext cx="1059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Function to </a:t>
            </a:r>
            <a:r>
              <a:rPr lang="en-US" sz="2400" b="1" dirty="0">
                <a:solidFill>
                  <a:srgbClr val="C00000"/>
                </a:solidFill>
              </a:rPr>
              <a:t>generate voice (text‑to‑speech) and send email </a:t>
            </a:r>
            <a:r>
              <a:rPr lang="en-IN" sz="2400" b="1" dirty="0">
                <a:solidFill>
                  <a:srgbClr val="C00000"/>
                </a:solidFill>
              </a:rPr>
              <a:t>notifications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C6F08-1041-2215-28D4-6DDB8A5A91D8}"/>
              </a:ext>
            </a:extLst>
          </p:cNvPr>
          <p:cNvSpPr txBox="1"/>
          <p:nvPr/>
        </p:nvSpPr>
        <p:spPr>
          <a:xfrm>
            <a:off x="4021507" y="311647"/>
            <a:ext cx="3986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 Email &amp; Voice Setup</a:t>
            </a:r>
          </a:p>
        </p:txBody>
      </p:sp>
    </p:spTree>
    <p:extLst>
      <p:ext uri="{BB962C8B-B14F-4D97-AF65-F5344CB8AC3E}">
        <p14:creationId xmlns:p14="http://schemas.microsoft.com/office/powerpoint/2010/main" val="252092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7AA13-3A3D-ED57-7A55-4094DF93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C910A-B0B6-B999-46F5-FF8771980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55" y="875704"/>
            <a:ext cx="11217612" cy="4701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ED1968-07BC-BD63-0E18-F9F268D117EB}"/>
              </a:ext>
            </a:extLst>
          </p:cNvPr>
          <p:cNvSpPr txBox="1"/>
          <p:nvPr/>
        </p:nvSpPr>
        <p:spPr>
          <a:xfrm>
            <a:off x="3407061" y="220325"/>
            <a:ext cx="6935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Attendance Marking &amp; Confirmation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F90BD-8B4A-AC60-D410-5774556933EC}"/>
              </a:ext>
            </a:extLst>
          </p:cNvPr>
          <p:cNvSpPr txBox="1"/>
          <p:nvPr/>
        </p:nvSpPr>
        <p:spPr>
          <a:xfrm>
            <a:off x="1273444" y="5648255"/>
            <a:ext cx="947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C00000"/>
                </a:solidFill>
              </a:rPr>
              <a:t>Here, I am marking </a:t>
            </a:r>
            <a:r>
              <a:rPr lang="en-IN" sz="2400" b="1" dirty="0">
                <a:solidFill>
                  <a:srgbClr val="C00000"/>
                </a:solidFill>
              </a:rPr>
              <a:t>attendance and sending email to the users</a:t>
            </a:r>
            <a:r>
              <a:rPr lang="en-US" sz="2400" b="1" dirty="0">
                <a:solidFill>
                  <a:srgbClr val="C00000"/>
                </a:solidFill>
              </a:rPr>
              <a:t> .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774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F32B3-5FF0-CB2E-3C39-C0284A8E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6FEA1-15A1-F162-532E-8928226D3C62}"/>
              </a:ext>
            </a:extLst>
          </p:cNvPr>
          <p:cNvSpPr txBox="1"/>
          <p:nvPr/>
        </p:nvSpPr>
        <p:spPr>
          <a:xfrm>
            <a:off x="3523632" y="2611"/>
            <a:ext cx="5419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2C7"/>
                </a:solidFill>
              </a:rPr>
              <a:t>Graphic User Interface(GUI)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7C1E3-0ED6-1796-D199-32491FF6C829}"/>
              </a:ext>
            </a:extLst>
          </p:cNvPr>
          <p:cNvSpPr txBox="1"/>
          <p:nvPr/>
        </p:nvSpPr>
        <p:spPr>
          <a:xfrm>
            <a:off x="2122935" y="6446468"/>
            <a:ext cx="6746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rgbClr val="C00000"/>
                </a:solidFill>
              </a:rPr>
              <a:t>Function for running  </a:t>
            </a:r>
            <a:r>
              <a:rPr lang="en-IN" sz="2400" b="1" dirty="0" err="1">
                <a:solidFill>
                  <a:srgbClr val="C00000"/>
                </a:solidFill>
              </a:rPr>
              <a:t>jupyter</a:t>
            </a:r>
            <a:r>
              <a:rPr lang="en-IN" sz="2400" b="1" dirty="0">
                <a:solidFill>
                  <a:srgbClr val="C00000"/>
                </a:solidFill>
              </a:rPr>
              <a:t> notebook files..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9F8ABE-53EE-6424-D280-45567C903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" y="587386"/>
            <a:ext cx="11389360" cy="585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12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3A2A-2E6B-ADED-C9ED-61C4D42D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638E7A-0F50-18F1-A695-E28790208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89" y="0"/>
            <a:ext cx="526182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F06325-72C5-5B3C-B3E4-9C83C6D6F13C}"/>
              </a:ext>
            </a:extLst>
          </p:cNvPr>
          <p:cNvSpPr txBox="1"/>
          <p:nvPr/>
        </p:nvSpPr>
        <p:spPr>
          <a:xfrm>
            <a:off x="540891" y="2997199"/>
            <a:ext cx="2924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Attendance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7E77C-1F02-A6DE-70D5-DCC4B88AA9B1}"/>
              </a:ext>
            </a:extLst>
          </p:cNvPr>
          <p:cNvSpPr txBox="1"/>
          <p:nvPr/>
        </p:nvSpPr>
        <p:spPr>
          <a:xfrm>
            <a:off x="9126623" y="2997199"/>
            <a:ext cx="2727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2346624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FE36A-BBC8-9096-43D7-1C064F5C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A32A68-7718-0210-0341-1AB9DF01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A7471A-2633-AB41-3C52-8F761BE5ED35}"/>
              </a:ext>
            </a:extLst>
          </p:cNvPr>
          <p:cNvSpPr txBox="1"/>
          <p:nvPr/>
        </p:nvSpPr>
        <p:spPr>
          <a:xfrm>
            <a:off x="4152185" y="370990"/>
            <a:ext cx="2862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Future 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6398C7-7EB6-4AEF-CF14-55E176099C5C}"/>
              </a:ext>
            </a:extLst>
          </p:cNvPr>
          <p:cNvSpPr txBox="1"/>
          <p:nvPr/>
        </p:nvSpPr>
        <p:spPr>
          <a:xfrm>
            <a:off x="307032" y="1044777"/>
            <a:ext cx="11812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Till now, I have completed all steps and </a:t>
            </a:r>
            <a:r>
              <a:rPr lang="en-IN" sz="2400" dirty="0"/>
              <a:t>executed successfully according to the synopsis submitted by me</a:t>
            </a:r>
            <a:r>
              <a:rPr lang="en-US" sz="24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8254E-B0AE-7E51-71EB-344BDFB45E62}"/>
              </a:ext>
            </a:extLst>
          </p:cNvPr>
          <p:cNvSpPr txBox="1"/>
          <p:nvPr/>
        </p:nvSpPr>
        <p:spPr>
          <a:xfrm>
            <a:off x="285321" y="2396903"/>
            <a:ext cx="116213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Incorporation of deep learning–based face recognition models (e.g., CNNs, </a:t>
            </a:r>
            <a:r>
              <a:rPr lang="en-IN" sz="2400" dirty="0" err="1"/>
              <a:t>FaceNet</a:t>
            </a:r>
            <a:r>
              <a:rPr lang="en-IN" sz="2400" dirty="0"/>
              <a:t>) to improve accuracy and robustness against pose and occlusions.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Integration with cloud platforms for centralized database access, enabling remote attendance monitoring and scalability for large institutions.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Mobile application support for on-the-go attendance marking and notifications.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Advanced liveness detection techniques to prevent spoofing attacks using photographs or videos.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Real-time analytics dashboard with AI-powered insights on attendance trends and irregularities.</a:t>
            </a:r>
          </a:p>
        </p:txBody>
      </p:sp>
    </p:spTree>
    <p:extLst>
      <p:ext uri="{BB962C8B-B14F-4D97-AF65-F5344CB8AC3E}">
        <p14:creationId xmlns:p14="http://schemas.microsoft.com/office/powerpoint/2010/main" val="2223333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59F7-7DAD-4B88-EB54-518EC91E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22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FA1C6-F135-76F3-BD82-AA0964DD3BEC}"/>
              </a:ext>
            </a:extLst>
          </p:cNvPr>
          <p:cNvSpPr txBox="1"/>
          <p:nvPr/>
        </p:nvSpPr>
        <p:spPr>
          <a:xfrm>
            <a:off x="2899636" y="284365"/>
            <a:ext cx="6058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How I overcome challenges 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D8A2AE-C59D-5EF3-3FDA-BD8F02A63BD3}"/>
              </a:ext>
            </a:extLst>
          </p:cNvPr>
          <p:cNvSpPr txBox="1"/>
          <p:nvPr/>
        </p:nvSpPr>
        <p:spPr>
          <a:xfrm>
            <a:off x="734702" y="1107867"/>
            <a:ext cx="106036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 use Google, YouTube videos, and blogs related to computer vision and face </a:t>
            </a:r>
          </a:p>
          <a:p>
            <a:r>
              <a:rPr lang="en-IN" sz="2400" dirty="0"/>
              <a:t>      recognition</a:t>
            </a:r>
            <a:r>
              <a:rPr lang="en-US" sz="2400" dirty="0"/>
              <a:t> for </a:t>
            </a:r>
            <a:r>
              <a:rPr lang="en-IN" sz="2400" dirty="0"/>
              <a:t>handling challenges.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0D719-DD0A-6E03-D5AD-CF8B6DCE8BA7}"/>
              </a:ext>
            </a:extLst>
          </p:cNvPr>
          <p:cNvSpPr txBox="1"/>
          <p:nvPr/>
        </p:nvSpPr>
        <p:spPr>
          <a:xfrm>
            <a:off x="4470238" y="2082228"/>
            <a:ext cx="2791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8C8A2-4B6A-EF5D-19CF-E9640D5CD0D1}"/>
              </a:ext>
            </a:extLst>
          </p:cNvPr>
          <p:cNvSpPr txBox="1"/>
          <p:nvPr/>
        </p:nvSpPr>
        <p:spPr>
          <a:xfrm>
            <a:off x="985962" y="2667003"/>
            <a:ext cx="10964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kern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Face Authentication–Based Attendance System successfully demonstrates an automated, efficient, and secure method for attendance management using facial recognition technology. By integrating Haar Cascade for accurate face detection and K-Nearest Neighbour (KNN) for robust face recognition, the system eliminates common drawbacks of manual and contact-based attendance methods such as proxy attendance, time consumption, and hygiene risks. The implementation confirmed high accuracy rates (above 95%) under varying real-world conditions including lighting and facial expressions. The system's intuitive user interface, streamlined database management, and real-time processing capabilities contribute to operational efficiency in educational purpose. 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1562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968A6-920F-2970-14A3-A3E10CAB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5AC8082-DF19-5CC2-2736-F0B77BAE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A667B-8652-8A6C-67AA-66078AA280B6}"/>
              </a:ext>
            </a:extLst>
          </p:cNvPr>
          <p:cNvSpPr txBox="1"/>
          <p:nvPr/>
        </p:nvSpPr>
        <p:spPr>
          <a:xfrm>
            <a:off x="4280732" y="433168"/>
            <a:ext cx="2857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7030A0"/>
                </a:solidFill>
              </a:rPr>
              <a:t>References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2A632-3136-B299-61C6-3E315F4053B3}"/>
              </a:ext>
            </a:extLst>
          </p:cNvPr>
          <p:cNvSpPr txBox="1"/>
          <p:nvPr/>
        </p:nvSpPr>
        <p:spPr>
          <a:xfrm>
            <a:off x="432773" y="1497999"/>
            <a:ext cx="11564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0072C7"/>
                </a:solidFill>
              </a:rPr>
              <a:t>https://www.geeksforgeeks.org/python/face-detection-using-cascade-classifier-using-opencv-python/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93B6A-93F7-C15B-EB08-00C29BFB3829}"/>
              </a:ext>
            </a:extLst>
          </p:cNvPr>
          <p:cNvSpPr txBox="1"/>
          <p:nvPr/>
        </p:nvSpPr>
        <p:spPr>
          <a:xfrm>
            <a:off x="432773" y="2673280"/>
            <a:ext cx="1156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0072C7"/>
                </a:solidFill>
              </a:rPr>
              <a:t>https://thepythoncode.com/article/create-a-facial-recognition-system-in-python</a:t>
            </a:r>
          </a:p>
        </p:txBody>
      </p:sp>
    </p:spTree>
    <p:extLst>
      <p:ext uri="{BB962C8B-B14F-4D97-AF65-F5344CB8AC3E}">
        <p14:creationId xmlns:p14="http://schemas.microsoft.com/office/powerpoint/2010/main" val="4204354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  <a:noFill/>
        </p:spPr>
        <p:txBody>
          <a:bodyPr anchor="ctr">
            <a:noAutofit/>
          </a:bodyPr>
          <a:lstStyle/>
          <a:p>
            <a:r>
              <a:rPr lang="en-US" sz="9600" dirty="0"/>
              <a:t>Thankyou…….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1154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Arial Black</vt:lpstr>
      <vt:lpstr>Calibri</vt:lpstr>
      <vt:lpstr>Cambria</vt:lpstr>
      <vt:lpstr>Wingdings</vt:lpstr>
      <vt:lpstr>Custom</vt:lpstr>
      <vt:lpstr>Face Authentication based Attendance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Thankyou…….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Kumar</dc:creator>
  <cp:lastModifiedBy>Piyush Kumar</cp:lastModifiedBy>
  <cp:revision>168</cp:revision>
  <dcterms:created xsi:type="dcterms:W3CDTF">2025-11-03T17:23:41Z</dcterms:created>
  <dcterms:modified xsi:type="dcterms:W3CDTF">2025-12-10T08:20:49Z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